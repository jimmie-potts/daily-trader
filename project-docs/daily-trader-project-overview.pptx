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6ddebc0b24417c" /><Relationship Type="http://schemas.openxmlformats.org/officeDocument/2006/relationships/extended-properties" Target="/docProps/app.xml" Id="R4f900f6ca9754a97" /><Relationship Type="http://schemas.openxmlformats.org/officeDocument/2006/relationships/officeDocument" Target="/ppt/presentation.xml" Id="Rd772110d929b4a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e8da5c71d14025"/>
  </p:sldMasterIdLst>
  <p:notesMasterIdLst>
    <p:notesMasterId xmlns:r="http://schemas.openxmlformats.org/officeDocument/2006/relationships" r:id="R3751ac85e4ab4162"/>
  </p:notesMasterIdLst>
  <p:sldIdLst>
    <p:sldId xmlns:r="http://schemas.openxmlformats.org/officeDocument/2006/relationships" id="256" r:id="R387a62e3a3204ae5"/>
    <p:sldId xmlns:r="http://schemas.openxmlformats.org/officeDocument/2006/relationships" id="257" r:id="Ra55d20f1819c40f8"/>
    <p:sldId xmlns:r="http://schemas.openxmlformats.org/officeDocument/2006/relationships" id="258" r:id="Re017238500e644b7"/>
    <p:sldId xmlns:r="http://schemas.openxmlformats.org/officeDocument/2006/relationships" id="259" r:id="R149ab3d38951453e"/>
    <p:sldId xmlns:r="http://schemas.openxmlformats.org/officeDocument/2006/relationships" id="260" r:id="R6b438aaea6a64ec0"/>
    <p:sldId xmlns:r="http://schemas.openxmlformats.org/officeDocument/2006/relationships" id="261" r:id="Rc65c8e3001964621"/>
    <p:sldId xmlns:r="http://schemas.openxmlformats.org/officeDocument/2006/relationships" id="262" r:id="R5b026aa9c6d44924"/>
    <p:sldId xmlns:r="http://schemas.openxmlformats.org/officeDocument/2006/relationships" id="263" r:id="R8c05712acbfc4c07"/>
    <p:sldId xmlns:r="http://schemas.openxmlformats.org/officeDocument/2006/relationships" id="264" r:id="Ra4baa9f02c71490e"/>
    <p:sldId xmlns:r="http://schemas.openxmlformats.org/officeDocument/2006/relationships" id="265" r:id="R0e6c28a326cc49cb"/>
    <p:sldId xmlns:r="http://schemas.openxmlformats.org/officeDocument/2006/relationships" id="266" r:id="Ra012b00f4d3d436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0bfaec3374455e" /><Relationship Type="http://schemas.openxmlformats.org/officeDocument/2006/relationships/slideMaster" Target="/ppt/slideMasters/slideMaster1.xml" Id="Re8e8da5c71d14025" /><Relationship Type="http://schemas.openxmlformats.org/officeDocument/2006/relationships/notesMaster" Target="/ppt/notesMasters/notesMaster1.xml" Id="R3751ac85e4ab4162" /><Relationship Type="http://schemas.openxmlformats.org/officeDocument/2006/relationships/presProps" Target="/ppt/presProps.xml" Id="R9e7a4d76899744a8" /><Relationship Type="http://schemas.openxmlformats.org/officeDocument/2006/relationships/tableStyles" Target="/ppt/tableStyles.xml" Id="R7a8bf51485394f86" /><Relationship Type="http://schemas.openxmlformats.org/officeDocument/2006/relationships/slide" Target="/ppt/slides/slide1.xml" Id="R387a62e3a3204ae5" /><Relationship Type="http://schemas.openxmlformats.org/officeDocument/2006/relationships/slide" Target="/ppt/slides/slide2.xml" Id="Ra55d20f1819c40f8" /><Relationship Type="http://schemas.openxmlformats.org/officeDocument/2006/relationships/slide" Target="/ppt/slides/slide3.xml" Id="Re017238500e644b7" /><Relationship Type="http://schemas.openxmlformats.org/officeDocument/2006/relationships/slide" Target="/ppt/slides/slide4.xml" Id="R149ab3d38951453e" /><Relationship Type="http://schemas.openxmlformats.org/officeDocument/2006/relationships/slide" Target="/ppt/slides/slide5.xml" Id="R6b438aaea6a64ec0" /><Relationship Type="http://schemas.openxmlformats.org/officeDocument/2006/relationships/slide" Target="/ppt/slides/slide6.xml" Id="Rc65c8e3001964621" /><Relationship Type="http://schemas.openxmlformats.org/officeDocument/2006/relationships/slide" Target="/ppt/slides/slide7.xml" Id="R5b026aa9c6d44924" /><Relationship Type="http://schemas.openxmlformats.org/officeDocument/2006/relationships/slide" Target="/ppt/slides/slide8.xml" Id="R8c05712acbfc4c07" /><Relationship Type="http://schemas.openxmlformats.org/officeDocument/2006/relationships/slide" Target="/ppt/slides/slide9.xml" Id="Ra4baa9f02c71490e" /><Relationship Type="http://schemas.openxmlformats.org/officeDocument/2006/relationships/slide" Target="/ppt/slides/slide10.xml" Id="R0e6c28a326cc49cb" /><Relationship Type="http://schemas.openxmlformats.org/officeDocument/2006/relationships/slide" Target="/ppt/slides/slide11.xml" Id="Ra012b00f4d3d43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0f5b41d9814b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58334f9a6a4f10" /><Relationship Type="http://schemas.openxmlformats.org/officeDocument/2006/relationships/notesMaster" Target="/ppt/notesMasters/notesMaster1.xml" Id="R8c1c3717b02d49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6db5222b33426d" /><Relationship Type="http://schemas.openxmlformats.org/officeDocument/2006/relationships/notesMaster" Target="/ppt/notesMasters/notesMaster1.xml" Id="R228c74093ff047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a9254e3d7242cb" /><Relationship Type="http://schemas.openxmlformats.org/officeDocument/2006/relationships/notesMaster" Target="/ppt/notesMasters/notesMaster1.xml" Id="R0b001001764a49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fb7ebe9c0349de" /><Relationship Type="http://schemas.openxmlformats.org/officeDocument/2006/relationships/notesMaster" Target="/ppt/notesMasters/notesMaster1.xml" Id="Rdc86abce92d749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f26b29434c49db" /><Relationship Type="http://schemas.openxmlformats.org/officeDocument/2006/relationships/notesMaster" Target="/ppt/notesMasters/notesMaster1.xml" Id="Rdf630acb0bcc41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e1fd6bc92c403a" /><Relationship Type="http://schemas.openxmlformats.org/officeDocument/2006/relationships/notesMaster" Target="/ppt/notesMasters/notesMaster1.xml" Id="Rb07a3c10453c4b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dd1721a9fb4cdb" /><Relationship Type="http://schemas.openxmlformats.org/officeDocument/2006/relationships/notesMaster" Target="/ppt/notesMasters/notesMaster1.xml" Id="Rbaa749cc28804b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f49407d10243b8" /><Relationship Type="http://schemas.openxmlformats.org/officeDocument/2006/relationships/notesMaster" Target="/ppt/notesMasters/notesMaster1.xml" Id="R1870a0b79f774d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c2ccaf48184246" /><Relationship Type="http://schemas.openxmlformats.org/officeDocument/2006/relationships/notesMaster" Target="/ppt/notesMasters/notesMaster1.xml" Id="R36682ae8a6e647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ede134ff064c83" /><Relationship Type="http://schemas.openxmlformats.org/officeDocument/2006/relationships/notesMaster" Target="/ppt/notesMasters/notesMaster1.xml" Id="Rd77e8d577bce4fb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1fda6a7ab504af0" /><Relationship Type="http://schemas.openxmlformats.org/officeDocument/2006/relationships/notesMaster" Target="/ppt/notesMasters/notesMaster1.xml" Id="R39760e023e784f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42b4ca8c5746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fed1b0be0f4f99" /><Relationship Type="http://schemas.openxmlformats.org/officeDocument/2006/relationships/slideLayout" Target="/ppt/slideLayouts/slideLayout1.xml" Id="Rc1892c4cb9e049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892c4cb9e049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80666e3994491" /><Relationship Type="http://schemas.openxmlformats.org/officeDocument/2006/relationships/notesSlide" Target="/ppt/notesSlides/notesSlide1.xml" Id="R49063371159f4c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4dcc3b3964f2d" /><Relationship Type="http://schemas.openxmlformats.org/officeDocument/2006/relationships/notesSlide" Target="/ppt/notesSlides/notesSlide2.xml" Id="R64786339018748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6cba0b8ea470e" /><Relationship Type="http://schemas.openxmlformats.org/officeDocument/2006/relationships/notesSlide" Target="/ppt/notesSlides/notesSlide3.xml" Id="Re1178ec3c50c4a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edbf5e3ce40b8" /><Relationship Type="http://schemas.openxmlformats.org/officeDocument/2006/relationships/notesSlide" Target="/ppt/notesSlides/notesSlide4.xml" Id="R3e49a1d58a7a42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2792fc8e3c4927" /><Relationship Type="http://schemas.openxmlformats.org/officeDocument/2006/relationships/notesSlide" Target="/ppt/notesSlides/notesSlide5.xml" Id="Rd207ba6550b647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0702cc5ab46ec" /><Relationship Type="http://schemas.openxmlformats.org/officeDocument/2006/relationships/notesSlide" Target="/ppt/notesSlides/notesSlide6.xml" Id="Rfcf9e4784a7b43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1ab96c1af4990" /><Relationship Type="http://schemas.openxmlformats.org/officeDocument/2006/relationships/notesSlide" Target="/ppt/notesSlides/notesSlide7.xml" Id="Raa351344ab6b45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98e968e5c64a69" /><Relationship Type="http://schemas.openxmlformats.org/officeDocument/2006/relationships/notesSlide" Target="/ppt/notesSlides/notesSlide8.xml" Id="R47d47f09046a45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8d0300a064174" /><Relationship Type="http://schemas.openxmlformats.org/officeDocument/2006/relationships/notesSlide" Target="/ppt/notesSlides/notesSlide9.xml" Id="Rcb8b8c55b87843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ce885e20e43e7" /><Relationship Type="http://schemas.openxmlformats.org/officeDocument/2006/relationships/notesSlide" Target="/ppt/notesSlides/notesSlide10.xml" Id="Rbde54cfcf4684de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093cc668b4302" /><Relationship Type="http://schemas.openxmlformats.org/officeDocument/2006/relationships/notesSlide" Target="/ppt/notesSlides/notesSlide11.xml" Id="R5770ca0bcb074b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E1688E-9760-4DC4-8A0A-C199245B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3048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274F4-B9CA-4B28-B9E6-7A34F7B6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88582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Daily Trader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4BDD9-6A34-4D7E-BE2A-4F75CCC3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914400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React to the market quickly—without giving up control</a:t>
            </a:r>
          </a:p>
        </p:txBody>
      </p:sp>
      <p:cxnSp>
        <p:nvCxnSpPr>
          <p:cNvPr id="9" name="cover-accent-rule"/>
          <p:cNvCxnSpPr/>
          <p:nvPr/>
        </p:nvCxnSpPr>
        <p:spPr>
          <a:xfrm xmlns:a="http://schemas.openxmlformats.org/drawingml/2006/main">
            <a:off x="400050" y="4705350"/>
            <a:ext cx="2095500" cy="286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3D8DFF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5AB51-768F-4472-8D48-2267152F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7239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A real-time portfolio monitoring, signal, and paper-trading platform</a:t>
            </a:r>
          </a:p>
        </p:txBody>
      </p:sp>
    </p:spTree>
    <p:extLst>
      <p:ext uri="{BB962C8B-B14F-4D97-AF65-F5344CB8AC3E}">
        <p14:creationId xmlns:p14="http://schemas.microsoft.com/office/powerpoint/2010/main" val="14784297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EBDCB9-4955-4AAE-A202-D616B771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DAILY TRADER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FD507C-AB84-4073-B1EA-9BB328DB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first product accelerates decisions—not autonomous trading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1FD1F-1B0D-4049-AEBF-1056AA89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C0A87C-0AB9-44B9-9940-C6F31230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143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560EE-BE05-4D1C-89C0-5168555E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5143500" cy="186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Markets move faster than a person can continuously monitor positions, price behavior, volume, portfolio exposure, news, and filings.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421FA-F037-4DC5-AC92-D1E3BF34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5143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product response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ACA1D5-0EFC-4DE6-A6D8-27C567EF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05050"/>
            <a:ext cx="5143500" cy="186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Continuously ingest market events, detect transparent signals, assess portfolio impact, and deliver an explainable alert or proposed trade for review.</a:t>
            </a:r>
          </a:p>
        </p:txBody>
      </p:sp>
      <p:sp>
        <p:nvSpPr>
          <p:cNvPr id="8" name="decision-boundary">
            <a:extLst xmlns:a="http://schemas.openxmlformats.org/drawingml/2006/main">
              <a:ext uri="{FF2B5EF4-FFF2-40B4-BE49-F238E27FC236}">
                <a16:creationId xmlns:a16="http://schemas.microsoft.com/office/drawing/2014/main" id="{83AAA8E1-0E6E-4DE2-8F23-171000BF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11029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620D7E-5736-4A59-9B14-837464BD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62525"/>
            <a:ext cx="104203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Human approval remains the boundary between analysis and execution.</a:t>
            </a:r>
          </a:p>
        </p:txBody>
      </p:sp>
    </p:spTree>
    <p:extLst>
      <p:ext uri="{BB962C8B-B14F-4D97-AF65-F5344CB8AC3E}">
        <p14:creationId xmlns:p14="http://schemas.microsoft.com/office/powerpoint/2010/main" val="4223289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6EE5EE-AF8F-4310-BA28-E067697D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DAILY TRADER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DC1ED5-E656-4093-A935-82C226DF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Capability expands only after each safety gate is proven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53D4EA-B447-4068-9D6D-D8CA50F3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cxnSp>
        <p:nvCxnSpPr>
          <p:cNvPr id="32" name="ladder-line"/>
          <p:cNvCxnSpPr/>
          <p:nvPr/>
        </p:nvCxnSpPr>
        <p:spPr>
          <a:xfrm xmlns:a="http://schemas.openxmlformats.org/drawingml/2006/main">
            <a:off x="704850" y="2857500"/>
            <a:ext cx="97155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" name="ladder-dot-1">
            <a:extLst xmlns:a="http://schemas.openxmlformats.org/drawingml/2006/main">
              <a:ext uri="{FF2B5EF4-FFF2-40B4-BE49-F238E27FC236}">
                <a16:creationId xmlns:a16="http://schemas.microsoft.com/office/drawing/2014/main" id="{6187186D-3C28-4F76-B26A-08BFF34A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adder-dot-2">
            <a:extLst xmlns:a="http://schemas.openxmlformats.org/drawingml/2006/main">
              <a:ext uri="{FF2B5EF4-FFF2-40B4-BE49-F238E27FC236}">
                <a16:creationId xmlns:a16="http://schemas.microsoft.com/office/drawing/2014/main" id="{128CC53D-2F14-42FC-AC25-AA4BA15F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00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adder-dot-3">
            <a:extLst xmlns:a="http://schemas.openxmlformats.org/drawingml/2006/main">
              <a:ext uri="{FF2B5EF4-FFF2-40B4-BE49-F238E27FC236}">
                <a16:creationId xmlns:a16="http://schemas.microsoft.com/office/drawing/2014/main" id="{DE589338-C2C8-4635-A758-6915D37A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00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adder-dot-4">
            <a:extLst xmlns:a="http://schemas.openxmlformats.org/drawingml/2006/main">
              <a:ext uri="{FF2B5EF4-FFF2-40B4-BE49-F238E27FC236}">
                <a16:creationId xmlns:a16="http://schemas.microsoft.com/office/drawing/2014/main" id="{B95795EF-6159-4526-863F-7BBF1237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00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adder-dot-5">
            <a:extLst xmlns:a="http://schemas.openxmlformats.org/drawingml/2006/main">
              <a:ext uri="{FF2B5EF4-FFF2-40B4-BE49-F238E27FC236}">
                <a16:creationId xmlns:a16="http://schemas.microsoft.com/office/drawing/2014/main" id="{4B730E7E-FD8D-4BA1-8D51-A4BA70B9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00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4EDCE1-F1A8-4BFB-85F0-56979FA3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857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24711F-3D6A-4203-9976-72612A65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1809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Monitor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D2AF8A-AC01-4538-AFD9-DA75CA98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17907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Portfolio and market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1D9715-CCD1-4ABB-8C70-E2F40684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38350"/>
            <a:ext cx="857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97B7FA-C32E-4003-BB46-88CCC942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76600"/>
            <a:ext cx="1809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Alert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3EFBD0-7195-4D32-9870-599D2543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48100"/>
            <a:ext cx="17907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Explain what changed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E1E596-A68C-4339-A2ED-BAF46420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38350"/>
            <a:ext cx="857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BB99D8-F324-4FBC-B83F-7E41C08D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76600"/>
            <a:ext cx="1809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Propose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B3D697-C21F-43D1-9C9C-B9D8E1D0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48100"/>
            <a:ext cx="17907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Create an order intent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C19D0E-90B7-4175-8A5E-6E5F99D5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38350"/>
            <a:ext cx="857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75D563-1C50-4059-A84A-2093EC1E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76600"/>
            <a:ext cx="1809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Approve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941FB0-3BD7-482E-BE02-DAA1E3AF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48100"/>
            <a:ext cx="17907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Human accepts or rejects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43344D-1248-4B15-9CCA-5BCEBB72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38350"/>
            <a:ext cx="857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B1EF15-2E20-4DF0-8DFB-FD6EDDFE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76600"/>
            <a:ext cx="1809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Automate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31ED36-2771-4619-A5D8-F934AC24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48100"/>
            <a:ext cx="17907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Future, narrow, controlled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36829A-DF67-4548-BEDE-54A05EE9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400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MVP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8D8BA0-01D4-451F-998C-420DCD6C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4572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Paper-first progression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B77FE7-9795-475F-BEFB-3334BDA1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410200"/>
            <a:ext cx="2038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SEPARATE DECISION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5C1EA3-9EB3-4509-83C4-A6A55E46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772150"/>
            <a:ext cx="2038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284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Live automation</a:t>
            </a:r>
          </a:p>
        </p:txBody>
      </p:sp>
    </p:spTree>
    <p:extLst>
      <p:ext uri="{BB962C8B-B14F-4D97-AF65-F5344CB8AC3E}">
        <p14:creationId xmlns:p14="http://schemas.microsoft.com/office/powerpoint/2010/main" val="7294230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FAB3E9-B1BF-4E9B-9827-3F4AE9B7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DAILY TRADER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819322-253D-4CEF-A329-391F4CDA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Two processing paths balance speed with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4BDAA-2BD6-4855-A868-E9CBBAC8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cxnSp>
        <p:nvCxnSpPr>
          <p:cNvPr id="37" name="fast-edge-1"/>
          <p:cNvCxnSpPr/>
          <p:nvPr/>
        </p:nvCxnSpPr>
        <p:spPr>
          <a:xfrm xmlns:a="http://schemas.openxmlformats.org/drawingml/2006/main">
            <a:off x="2190750" y="2524125"/>
            <a:ext cx="4572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8" name="fast-edge-2"/>
          <p:cNvCxnSpPr/>
          <p:nvPr/>
        </p:nvCxnSpPr>
        <p:spPr>
          <a:xfrm xmlns:a="http://schemas.openxmlformats.org/drawingml/2006/main">
            <a:off x="4438650" y="2524125"/>
            <a:ext cx="4572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9" name="fast-edge-3"/>
          <p:cNvCxnSpPr/>
          <p:nvPr/>
        </p:nvCxnSpPr>
        <p:spPr>
          <a:xfrm xmlns:a="http://schemas.openxmlformats.org/drawingml/2006/main">
            <a:off x="6686550" y="2524125"/>
            <a:ext cx="4572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0" name="fast-edge-4"/>
          <p:cNvCxnSpPr/>
          <p:nvPr/>
        </p:nvCxnSpPr>
        <p:spPr>
          <a:xfrm xmlns:a="http://schemas.openxmlformats.org/drawingml/2006/main">
            <a:off x="8934450" y="2524125"/>
            <a:ext cx="4572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1" name="research-edge-1"/>
          <p:cNvCxnSpPr/>
          <p:nvPr/>
        </p:nvCxnSpPr>
        <p:spPr>
          <a:xfrm xmlns:a="http://schemas.openxmlformats.org/drawingml/2006/main">
            <a:off x="4438650" y="4953000"/>
            <a:ext cx="4572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2" name="research-edge-2"/>
          <p:cNvCxnSpPr/>
          <p:nvPr/>
        </p:nvCxnSpPr>
        <p:spPr>
          <a:xfrm xmlns:a="http://schemas.openxmlformats.org/drawingml/2006/main">
            <a:off x="8039100" y="4953000"/>
            <a:ext cx="22479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3" name="research-edge-3"/>
          <p:cNvCxnSpPr/>
          <p:nvPr/>
        </p:nvCxnSpPr>
        <p:spPr>
          <a:xfrm xmlns:a="http://schemas.openxmlformats.org/drawingml/2006/main">
            <a:off x="10287000" y="3162300"/>
            <a:ext cx="286" cy="1790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1" name="fast-node-1">
            <a:extLst xmlns:a="http://schemas.openxmlformats.org/drawingml/2006/main">
              <a:ext uri="{FF2B5EF4-FFF2-40B4-BE49-F238E27FC236}">
                <a16:creationId xmlns:a16="http://schemas.microsoft.com/office/drawing/2014/main" id="{CA89C1E9-01DC-4BE6-943A-0B5AB562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17907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F39135-8DA5-4643-A399-A08C9A59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447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Market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8C1244-4FBB-4A4D-9F7A-8E89C0ED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62225"/>
            <a:ext cx="1447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Trades, quotes, bars</a:t>
            </a:r>
          </a:p>
        </p:txBody>
      </p:sp>
      <p:sp>
        <p:nvSpPr>
          <p:cNvPr id="14" name="fast-node-2">
            <a:extLst xmlns:a="http://schemas.openxmlformats.org/drawingml/2006/main">
              <a:ext uri="{FF2B5EF4-FFF2-40B4-BE49-F238E27FC236}">
                <a16:creationId xmlns:a16="http://schemas.microsoft.com/office/drawing/2014/main" id="{3066F491-0636-4A76-8C07-44786889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885950"/>
            <a:ext cx="17907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01BE04-A6E5-4684-B6F9-D72E47A6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95500"/>
            <a:ext cx="1447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Ingestion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6D8066-4C56-463F-A008-AC263456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62225"/>
            <a:ext cx="1447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Normalize and timestamp</a:t>
            </a:r>
          </a:p>
        </p:txBody>
      </p:sp>
      <p:sp>
        <p:nvSpPr>
          <p:cNvPr id="17" name="fast-node-3">
            <a:extLst xmlns:a="http://schemas.openxmlformats.org/drawingml/2006/main">
              <a:ext uri="{FF2B5EF4-FFF2-40B4-BE49-F238E27FC236}">
                <a16:creationId xmlns:a16="http://schemas.microsoft.com/office/drawing/2014/main" id="{B3F3B51B-0E4F-443A-B853-5453C5D2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85950"/>
            <a:ext cx="17907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D9586A-E647-4BB9-BB45-82D8A4B0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95500"/>
            <a:ext cx="1447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Signals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206B1C-C871-4A70-A41D-C3C77F83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62225"/>
            <a:ext cx="1447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Deterministic rules</a:t>
            </a:r>
          </a:p>
        </p:txBody>
      </p:sp>
      <p:sp>
        <p:nvSpPr>
          <p:cNvPr id="20" name="fast-node-4">
            <a:extLst xmlns:a="http://schemas.openxmlformats.org/drawingml/2006/main">
              <a:ext uri="{FF2B5EF4-FFF2-40B4-BE49-F238E27FC236}">
                <a16:creationId xmlns:a16="http://schemas.microsoft.com/office/drawing/2014/main" id="{B059034E-4975-4535-A8E6-890802F9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85950"/>
            <a:ext cx="17907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CF497D-1E7A-466C-9534-FE2F71DC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95500"/>
            <a:ext cx="1447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Risk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622F3B-301C-4E9A-B267-E649E265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62225"/>
            <a:ext cx="1447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Portfolio constraints</a:t>
            </a:r>
          </a:p>
        </p:txBody>
      </p:sp>
      <p:sp>
        <p:nvSpPr>
          <p:cNvPr id="23" name="fast-node-5">
            <a:extLst xmlns:a="http://schemas.openxmlformats.org/drawingml/2006/main">
              <a:ext uri="{FF2B5EF4-FFF2-40B4-BE49-F238E27FC236}">
                <a16:creationId xmlns:a16="http://schemas.microsoft.com/office/drawing/2014/main" id="{C763C498-04A5-4539-B9C7-F555F286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885950"/>
            <a:ext cx="17907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C3C9EF-47A0-478C-91D4-6C437A2D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95500"/>
            <a:ext cx="1447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Decision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19F6C3-0CC6-4FAA-B5E2-CEC667E4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62225"/>
            <a:ext cx="1447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Alert or order intent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422B42-341A-4452-AA60-2A467163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447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FAST PATH · TARGET p95 UNDER 5 SECONDS</a:t>
            </a:r>
          </a:p>
        </p:txBody>
      </p:sp>
      <p:sp>
        <p:nvSpPr>
          <p:cNvPr id="27" name="research-source">
            <a:extLst xmlns:a="http://schemas.openxmlformats.org/drawingml/2006/main">
              <a:ext uri="{FF2B5EF4-FFF2-40B4-BE49-F238E27FC236}">
                <a16:creationId xmlns:a16="http://schemas.microsoft.com/office/drawing/2014/main" id="{F9638EF9-6AAB-4F92-9631-F3215CE1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24350"/>
            <a:ext cx="17907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19F175-ADBD-4B37-8C0C-D30F40ED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533900"/>
            <a:ext cx="1447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025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Research sources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95A413-62F1-4ABE-AA22-14EB3E35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000625"/>
            <a:ext cx="1447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News, filings, earnings</a:t>
            </a:r>
          </a:p>
        </p:txBody>
      </p:sp>
      <p:sp>
        <p:nvSpPr>
          <p:cNvPr id="30" name="research-ai">
            <a:extLst xmlns:a="http://schemas.openxmlformats.org/drawingml/2006/main">
              <a:ext uri="{FF2B5EF4-FFF2-40B4-BE49-F238E27FC236}">
                <a16:creationId xmlns:a16="http://schemas.microsoft.com/office/drawing/2014/main" id="{F77C3A97-B2D7-4F2F-AF6E-D790CF70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4350"/>
            <a:ext cx="3143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AA7DCF-B102-4F7F-8E93-8CB1D280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533900"/>
            <a:ext cx="2800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research pipeline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E6B16E-17B8-420F-BF14-1ACC1B51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000625"/>
            <a:ext cx="28003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Summarize, cite, compare, enrich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E5D8FC-26F0-4F3F-993D-ED04819F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810250"/>
            <a:ext cx="571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RESEARCH PATH · ASYNCHRONOUS AND NON-AUTHORITATIVE</a:t>
            </a:r>
          </a:p>
        </p:txBody>
      </p:sp>
    </p:spTree>
    <p:extLst>
      <p:ext uri="{BB962C8B-B14F-4D97-AF65-F5344CB8AC3E}">
        <p14:creationId xmlns:p14="http://schemas.microsoft.com/office/powerpoint/2010/main" val="8903618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048193-C89B-4DA1-92B6-6FBBF718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DAILY TRADER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E4B79C-0383-4B6A-8BC8-063E13CD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MVP closes the loop from observation to paper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99585-374F-45F4-9E58-C77B2745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B588B2-7AED-47A7-8148-32AF65C2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143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MONITOR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23FD2-2F27-4E52-A685-D4C251C1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3143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Know the portfolio 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3F762-AFB9-41D0-92EE-6EA46E20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3143250" cy="163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Positions, cash, P&amp;L, allocation, concentration, exposure, orders, and fills.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5410B-E445-4390-8BD4-E473D70F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09750"/>
            <a:ext cx="3143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DETECT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C403D3-585B-4F9B-8219-6A8B177C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43150"/>
            <a:ext cx="3143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Notice meaningful change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C7EF3B-AECB-4843-B7BE-816873EF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71850"/>
            <a:ext cx="3143250" cy="163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Streaming prices, watchlists, transparent signals, freshness health, and real-time alerts.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0FD3E2-2AA9-444D-B2E6-643C00B4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143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DECIDE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5BA73B-EE3F-49FC-8257-4AB61DA3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43150"/>
            <a:ext cx="3143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Act with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739202-BD7E-4A3F-80B2-244115B1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71850"/>
            <a:ext cx="3143250" cy="163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Portfolio context, order intents, explicit approval, paper submission, and an immutable decision log.</a:t>
            </a:r>
          </a:p>
        </p:txBody>
      </p:sp>
      <p:cxnSp>
        <p:nvCxnSpPr>
          <p:cNvPr id="27" name="mvp-footer-rule"/>
          <p:cNvCxnSpPr/>
          <p:nvPr/>
        </p:nvCxnSpPr>
        <p:spPr>
          <a:xfrm xmlns:a="http://schemas.openxmlformats.org/drawingml/2006/main">
            <a:off x="400050" y="5600700"/>
            <a:ext cx="110299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820FF7-A6E7-4D5C-8B37-0404D6EE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9525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Every signal must be explainable and reproducible from stored evidence.</a:t>
            </a:r>
          </a:p>
        </p:txBody>
      </p:sp>
    </p:spTree>
    <p:extLst>
      <p:ext uri="{BB962C8B-B14F-4D97-AF65-F5344CB8AC3E}">
        <p14:creationId xmlns:p14="http://schemas.microsoft.com/office/powerpoint/2010/main" val="13503297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1CB31A-3E6D-4FD1-B065-0B451330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DAILY TRADER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3E08E-A1A2-427B-8403-658319F3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Start with transparent signals before sophisticated strategies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083ED-D506-4012-B148-56C0F310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EDDBC-1316-4AF6-8CCD-92E0E59C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71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A4CBDB-39C4-40B5-A377-075EF39E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4857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Unusual volume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9E5E2C-B00F-4091-8E71-5BD20618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4857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Relative to the same time of day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D7A23D-0611-4CA8-96AA-B28AB488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571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EACFF4-92CF-454B-A699-2BF80756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09800"/>
            <a:ext cx="4857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Price breakout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BE0A1-A5FA-46A6-AF84-55531EA7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4857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Above or below a rolling range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0C497C-6E04-4588-A7B7-F9DAD245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71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4B9D5E-C66B-465B-90E2-CF9C7488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4857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Abnormal movement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B88E3B-94AD-41B9-98CE-05DF1077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4857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Relative to recent volatility or ATR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1EA680-F662-4458-8F87-043F0F5F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571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83821A-2FE6-4D47-8939-4544D733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14800"/>
            <a:ext cx="4857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Relative strength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830D78-3892-4686-8A7E-024FE9F9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29150"/>
            <a:ext cx="4857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Against SPY and the relevant sector ETF</a:t>
            </a:r>
          </a:p>
        </p:txBody>
      </p:sp>
      <p:sp>
        <p:nvSpPr>
          <p:cNvPr id="16" name="portfolio-risk-strip">
            <a:extLst xmlns:a="http://schemas.openxmlformats.org/drawingml/2006/main">
              <a:ext uri="{FF2B5EF4-FFF2-40B4-BE49-F238E27FC236}">
                <a16:creationId xmlns:a16="http://schemas.microsoft.com/office/drawing/2014/main" id="{BFCB2F36-28DD-4F7F-B2F5-6D7A35A5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0744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74851E-2703-4891-B43D-A63D201D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0225"/>
            <a:ext cx="10287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+ Portfolio risk events: concentration, drawdown, and exposure</a:t>
            </a:r>
          </a:p>
        </p:txBody>
      </p:sp>
    </p:spTree>
    <p:extLst>
      <p:ext uri="{BB962C8B-B14F-4D97-AF65-F5344CB8AC3E}">
        <p14:creationId xmlns:p14="http://schemas.microsoft.com/office/powerpoint/2010/main" val="14164967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8F866E-54EE-44CC-8C89-F51DE63A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DAILY TRADER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A53DAE-35ED-442B-8F70-5C1BB29A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Trust comes from controls that fail closed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BB8AEF-0519-47C4-9537-8A372D86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54EFD6-43FB-4939-8F65-98A1F0C6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668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order reaches a broker until an approved intent passes a fresh, independent risk evaluation.</a:t>
            </a:r>
          </a:p>
        </p:txBody>
      </p:sp>
      <p:sp>
        <p:nvSpPr>
          <p:cNvPr id="5" name="risk-check-1">
            <a:extLst xmlns:a="http://schemas.openxmlformats.org/drawingml/2006/main">
              <a:ext uri="{FF2B5EF4-FFF2-40B4-BE49-F238E27FC236}">
                <a16:creationId xmlns:a16="http://schemas.microsoft.com/office/drawing/2014/main" id="{1AD6D06E-5FB4-49EC-B539-398538C0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527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31E87-F444-4B11-8D6A-40EB31C5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714625"/>
            <a:ext cx="171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335036-2598-48FF-8D49-9E7CDC43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Global kill switch</a:t>
            </a:r>
          </a:p>
        </p:txBody>
      </p:sp>
      <p:sp>
        <p:nvSpPr>
          <p:cNvPr id="8" name="risk-check-2">
            <a:extLst xmlns:a="http://schemas.openxmlformats.org/drawingml/2006/main">
              <a:ext uri="{FF2B5EF4-FFF2-40B4-BE49-F238E27FC236}">
                <a16:creationId xmlns:a16="http://schemas.microsoft.com/office/drawing/2014/main" id="{37292709-F148-4847-BB61-FA0D80AC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575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2599FB-2377-44A2-B8BC-489E9EC5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419475"/>
            <a:ext cx="171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FE4EF9-C982-4728-B42C-33CA66BF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Order and position limits</a:t>
            </a:r>
          </a:p>
        </p:txBody>
      </p:sp>
      <p:sp>
        <p:nvSpPr>
          <p:cNvPr id="11" name="risk-check-3">
            <a:extLst xmlns:a="http://schemas.openxmlformats.org/drawingml/2006/main">
              <a:ext uri="{FF2B5EF4-FFF2-40B4-BE49-F238E27FC236}">
                <a16:creationId xmlns:a16="http://schemas.microsoft.com/office/drawing/2014/main" id="{4EA7AC3B-012D-4509-9D7A-E65AC9C4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62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EB0AD5-6DA2-4AF5-B329-9F1666DF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124325"/>
            <a:ext cx="171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7953F7-59E8-49F8-B955-0431C38F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Daily-loss and open-order limits</a:t>
            </a:r>
          </a:p>
        </p:txBody>
      </p:sp>
      <p:sp>
        <p:nvSpPr>
          <p:cNvPr id="14" name="risk-check-4">
            <a:extLst xmlns:a="http://schemas.openxmlformats.org/drawingml/2006/main">
              <a:ext uri="{FF2B5EF4-FFF2-40B4-BE49-F238E27FC236}">
                <a16:creationId xmlns:a16="http://schemas.microsoft.com/office/drawing/2014/main" id="{9A04B7CB-CB04-4D24-BF1A-CAD98E83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672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54C5E2-7742-49A9-8FE6-1C6B3778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829175"/>
            <a:ext cx="171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235F87-7D2E-44F1-9A5B-D34A742A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3870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Market-hours and session rules</a:t>
            </a:r>
          </a:p>
        </p:txBody>
      </p:sp>
      <p:sp>
        <p:nvSpPr>
          <p:cNvPr id="17" name="risk-check-5">
            <a:extLst xmlns:a="http://schemas.openxmlformats.org/drawingml/2006/main">
              <a:ext uri="{FF2B5EF4-FFF2-40B4-BE49-F238E27FC236}">
                <a16:creationId xmlns:a16="http://schemas.microsoft.com/office/drawing/2014/main" id="{6304DF31-AEF6-43E5-BA20-BFF82A91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527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83A2D7-0268-471A-8DED-A84921AC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714625"/>
            <a:ext cx="171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E283D2-2CF8-4B31-AB38-740D51D8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2415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Quote-age, spread, and liquidity checks</a:t>
            </a:r>
          </a:p>
        </p:txBody>
      </p:sp>
      <p:sp>
        <p:nvSpPr>
          <p:cNvPr id="20" name="risk-check-6">
            <a:extLst xmlns:a="http://schemas.openxmlformats.org/drawingml/2006/main">
              <a:ext uri="{FF2B5EF4-FFF2-40B4-BE49-F238E27FC236}">
                <a16:creationId xmlns:a16="http://schemas.microsoft.com/office/drawing/2014/main" id="{2D0BEF69-411C-4AE4-9013-C4E3FC65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575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1CB196-65A7-4F0F-8F0F-B4C5F1FB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419475"/>
            <a:ext cx="171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BFA9DC-9939-4FE8-A08B-F1E932F3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2900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Idempotency and duplicate protection</a:t>
            </a:r>
          </a:p>
        </p:txBody>
      </p:sp>
      <p:sp>
        <p:nvSpPr>
          <p:cNvPr id="23" name="risk-check-7">
            <a:extLst xmlns:a="http://schemas.openxmlformats.org/drawingml/2006/main">
              <a:ext uri="{FF2B5EF4-FFF2-40B4-BE49-F238E27FC236}">
                <a16:creationId xmlns:a16="http://schemas.microsoft.com/office/drawing/2014/main" id="{5D4611A6-F1C0-41C0-B532-C10D7A1D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62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9B1FA2-E6B0-4C39-9831-CEDA0DD9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24325"/>
            <a:ext cx="171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FBFDDA-A755-481F-BE71-0FD86FE4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3385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Broker reconciliation after fills</a:t>
            </a:r>
          </a:p>
        </p:txBody>
      </p:sp>
      <p:sp>
        <p:nvSpPr>
          <p:cNvPr id="26" name="risk-check-8">
            <a:extLst xmlns:a="http://schemas.openxmlformats.org/drawingml/2006/main">
              <a:ext uri="{FF2B5EF4-FFF2-40B4-BE49-F238E27FC236}">
                <a16:creationId xmlns:a16="http://schemas.microsoft.com/office/drawing/2014/main" id="{490AEA07-192C-4EBF-B030-A41DD044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672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78B6DB-BAFF-4AE7-BEDA-4C1268F9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829175"/>
            <a:ext cx="171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37069C-065F-4D4A-95B7-DB9E3DAE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3870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Append-only decision and execution log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8EB7F7-97E8-4251-BCBF-53676ECA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8572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A timeout means unknown state. Reconcile before retrying.</a:t>
            </a:r>
          </a:p>
        </p:txBody>
      </p:sp>
    </p:spTree>
    <p:extLst>
      <p:ext uri="{BB962C8B-B14F-4D97-AF65-F5344CB8AC3E}">
        <p14:creationId xmlns:p14="http://schemas.microsoft.com/office/powerpoint/2010/main" val="11598803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AA23EF-A594-4332-A3E5-CDBD8A5D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DAILY TRADER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3A0793-F7CC-429B-9602-AE5B0FB2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181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TypeScript stack is fast to build and sufficient for second-level reactions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FFA0D-DEFF-40ED-BF49-1E17657C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A01CF2-E53F-44FC-A558-A5B68884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219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Application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0C44CA-F73A-4BAF-8015-17102DEA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676400"/>
            <a:ext cx="8191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Next.js · Fastify · Node.js workers</a:t>
            </a:r>
          </a:p>
        </p:txBody>
      </p:sp>
      <p:cxnSp>
        <p:nvCxnSpPr>
          <p:cNvPr id="22" name="stack-rule-1"/>
          <p:cNvCxnSpPr/>
          <p:nvPr/>
        </p:nvCxnSpPr>
        <p:spPr>
          <a:xfrm xmlns:a="http://schemas.openxmlformats.org/drawingml/2006/main">
            <a:off x="400050" y="2247900"/>
            <a:ext cx="107442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D1A2E2-532A-412B-AF50-462F77EC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219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State &amp; events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0A717C-CD56-4EAA-97DE-43AED717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95550"/>
            <a:ext cx="8191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PostgreSQL + TimescaleDB · Redis Streams</a:t>
            </a:r>
          </a:p>
        </p:txBody>
      </p:sp>
      <p:cxnSp>
        <p:nvCxnSpPr>
          <p:cNvPr id="25" name="stack-rule-2"/>
          <p:cNvCxnSpPr/>
          <p:nvPr/>
        </p:nvCxnSpPr>
        <p:spPr>
          <a:xfrm xmlns:a="http://schemas.openxmlformats.org/drawingml/2006/main">
            <a:off x="400050" y="3067050"/>
            <a:ext cx="107442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95F09F-E802-491D-BBF6-DC4D30EC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219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Provider boundary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8C3BF8-8894-4AA1-A18B-ECFFFE6E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314700"/>
            <a:ext cx="8191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Alpaca paper environment behind replaceable adapters</a:t>
            </a:r>
          </a:p>
        </p:txBody>
      </p:sp>
      <p:cxnSp>
        <p:nvCxnSpPr>
          <p:cNvPr id="28" name="stack-rule-3"/>
          <p:cNvCxnSpPr/>
          <p:nvPr/>
        </p:nvCxnSpPr>
        <p:spPr>
          <a:xfrm xmlns:a="http://schemas.openxmlformats.org/drawingml/2006/main">
            <a:off x="400050" y="3886200"/>
            <a:ext cx="107442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FD994C-FF91-4C38-8D64-E47B9372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219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Operations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104C75-451A-42C4-A592-91E69CBA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133850"/>
            <a:ext cx="8191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Docker Compose · OpenTelemetry · AWS ECS / RDS / ElastiCache</a:t>
            </a:r>
          </a:p>
        </p:txBody>
      </p:sp>
      <p:sp>
        <p:nvSpPr>
          <p:cNvPr id="15" name="stack-principle">
            <a:extLst xmlns:a="http://schemas.openxmlformats.org/drawingml/2006/main">
              <a:ext uri="{FF2B5EF4-FFF2-40B4-BE49-F238E27FC236}">
                <a16:creationId xmlns:a16="http://schemas.microsoft.com/office/drawing/2014/main" id="{0FCDA390-2A14-4FE3-87C7-7D5289BF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23C7B4-89DC-4212-95E5-795E241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210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95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Add distributed infrastructure only when measured throughput or durability requires it.</a:t>
            </a:r>
          </a:p>
        </p:txBody>
      </p:sp>
    </p:spTree>
    <p:extLst>
      <p:ext uri="{BB962C8B-B14F-4D97-AF65-F5344CB8AC3E}">
        <p14:creationId xmlns:p14="http://schemas.microsoft.com/office/powerpoint/2010/main" val="7233598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B5E223-74AC-41A8-BE86-0B50F2D5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DAILY TRADER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138BF5-37A0-4D74-9FF4-80B72F58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Delivery moves from deterministic replay to controlled execution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D5707-B69A-4F66-88FE-AD85BBD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  <p:cxnSp>
        <p:nvCxnSpPr>
          <p:cNvPr id="26" name="roadmap-line"/>
          <p:cNvCxnSpPr/>
          <p:nvPr/>
        </p:nvCxnSpPr>
        <p:spPr>
          <a:xfrm xmlns:a="http://schemas.openxmlformats.org/drawingml/2006/main">
            <a:off x="666750" y="5334000"/>
            <a:ext cx="99060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5" name="roadmap-dot-1">
            <a:extLst xmlns:a="http://schemas.openxmlformats.org/drawingml/2006/main">
              <a:ext uri="{FF2B5EF4-FFF2-40B4-BE49-F238E27FC236}">
                <a16:creationId xmlns:a16="http://schemas.microsoft.com/office/drawing/2014/main" id="{57828815-3734-4039-BA86-D000120B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oadmap-dot-2">
            <a:extLst xmlns:a="http://schemas.openxmlformats.org/drawingml/2006/main">
              <a:ext uri="{FF2B5EF4-FFF2-40B4-BE49-F238E27FC236}">
                <a16:creationId xmlns:a16="http://schemas.microsoft.com/office/drawing/2014/main" id="{E4E7ECB7-36AE-4915-AE1B-1CD3EE98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276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oadmap-dot-3">
            <a:extLst xmlns:a="http://schemas.openxmlformats.org/drawingml/2006/main">
              <a:ext uri="{FF2B5EF4-FFF2-40B4-BE49-F238E27FC236}">
                <a16:creationId xmlns:a16="http://schemas.microsoft.com/office/drawing/2014/main" id="{76400050-2D56-447C-8EC0-A9EC6F2D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76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oadmap-card-1">
            <a:extLst xmlns:a="http://schemas.openxmlformats.org/drawingml/2006/main">
              <a:ext uri="{FF2B5EF4-FFF2-40B4-BE49-F238E27FC236}">
                <a16:creationId xmlns:a16="http://schemas.microsoft.com/office/drawing/2014/main" id="{3E7CE863-3404-4217-AFC2-987C62A5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33528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1A227E-3EDC-45FF-B77B-8A8E2267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PHASES 0–2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17FC0A-4560-43F8-B421-DACD6C30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2857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Foundation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6BF576-6F60-4B48-B00B-DA082F39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81350"/>
            <a:ext cx="285750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Define constraints, scaffold the monorepo, connect data, normalize events, and prove deterministic replay.</a:t>
            </a:r>
          </a:p>
        </p:txBody>
      </p:sp>
      <p:sp>
        <p:nvSpPr>
          <p:cNvPr id="12" name="roadmap-card-2">
            <a:extLst xmlns:a="http://schemas.openxmlformats.org/drawingml/2006/main">
              <a:ext uri="{FF2B5EF4-FFF2-40B4-BE49-F238E27FC236}">
                <a16:creationId xmlns:a16="http://schemas.microsoft.com/office/drawing/2014/main" id="{43D7E0F9-4676-4C94-BE35-614C2AF5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81150"/>
            <a:ext cx="33528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A3065A-DE99-420F-90EC-2D1D87F6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6690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PHASES 3–6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F85243-3669-4794-A6BD-B3344EAA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24100"/>
            <a:ext cx="2857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Decision-support MVP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19E386-2455-4886-B041-A496953C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81350"/>
            <a:ext cx="285750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Synchronize the portfolio, evaluate signals, deliver explainable alerts, and add backtesting.</a:t>
            </a:r>
          </a:p>
        </p:txBody>
      </p:sp>
      <p:sp>
        <p:nvSpPr>
          <p:cNvPr id="16" name="roadmap-card-3">
            <a:extLst xmlns:a="http://schemas.openxmlformats.org/drawingml/2006/main">
              <a:ext uri="{FF2B5EF4-FFF2-40B4-BE49-F238E27FC236}">
                <a16:creationId xmlns:a16="http://schemas.microsoft.com/office/drawing/2014/main" id="{63E757D6-B172-451C-BF17-2CA4F02E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81150"/>
            <a:ext cx="33528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EF5AF6-A590-487E-B06E-A82EFEFC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PHASES 7–9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2C6B97-70FB-4CA2-8D1D-6A20CFFF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24100"/>
            <a:ext cx="2857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Controlled execution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5126DD-BCC4-4A0C-AD6D-25F764B2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81350"/>
            <a:ext cx="285750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Submit approved paper orders, harden failure recovery, then make a separate live-rollout decision.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C66F01-AF0A-4242-882F-7070FA41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95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NOW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C7D887-63C1-4C77-A9AC-9881290C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1975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PAPER-FIRST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8D7F31-72AA-4240-AFCA-8EE71203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619750"/>
            <a:ext cx="2286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SEPARATE APPROVAL</a:t>
            </a:r>
          </a:p>
        </p:txBody>
      </p:sp>
    </p:spTree>
    <p:extLst>
      <p:ext uri="{BB962C8B-B14F-4D97-AF65-F5344CB8AC3E}">
        <p14:creationId xmlns:p14="http://schemas.microsoft.com/office/powerpoint/2010/main" val="11895637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888CED-6626-46E8-8367-4FB429A8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DAILY TRADER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B1A19-189A-4603-9F86-0361D314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first milestone proves one complete, replayable signal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2C5FE7-3F55-419B-853D-873C63E0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08B68-532A-424B-850B-036F3535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90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EECBA-F5AD-49F7-8B1D-02209676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581150"/>
            <a:ext cx="447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Stream AAPL and SPY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F48DB5-21F3-4653-A736-FF2C3858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38350"/>
            <a:ext cx="4476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Connect a paper-compatible live feed.</a:t>
            </a:r>
          </a:p>
        </p:txBody>
      </p:sp>
      <p:cxnSp>
        <p:nvCxnSpPr>
          <p:cNvPr id="34" name="slice-rule-1"/>
          <p:cNvCxnSpPr/>
          <p:nvPr/>
        </p:nvCxnSpPr>
        <p:spPr>
          <a:xfrm xmlns:a="http://schemas.openxmlformats.org/drawingml/2006/main">
            <a:off x="400050" y="2686050"/>
            <a:ext cx="51435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3B8D9B-0C5E-4F6F-A21D-0CEFB8E5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590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BA4147-637D-4A1D-BE0B-283ABA94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581150"/>
            <a:ext cx="447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Normalize one-minute bars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12744A-79EC-4600-8B01-6BF3802A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38350"/>
            <a:ext cx="4476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Persist timestamps and provider evidence.</a:t>
            </a:r>
          </a:p>
        </p:txBody>
      </p:sp>
      <p:cxnSp>
        <p:nvCxnSpPr>
          <p:cNvPr id="38" name="slice-rule-2"/>
          <p:cNvCxnSpPr/>
          <p:nvPr/>
        </p:nvCxnSpPr>
        <p:spPr>
          <a:xfrm xmlns:a="http://schemas.openxmlformats.org/drawingml/2006/main">
            <a:off x="6286500" y="2686050"/>
            <a:ext cx="51435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8BF605-9837-49F8-B2D3-98E72B16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71800"/>
            <a:ext cx="590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F5CDB1-C138-4C58-995F-11EB9DC5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33700"/>
            <a:ext cx="447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Show price and health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180DD3-5D84-49D5-A763-8F1A85FB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90900"/>
            <a:ext cx="4476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Expose freshness and connection state.</a:t>
            </a:r>
          </a:p>
        </p:txBody>
      </p:sp>
      <p:cxnSp>
        <p:nvCxnSpPr>
          <p:cNvPr id="42" name="slice-rule-3"/>
          <p:cNvCxnSpPr/>
          <p:nvPr/>
        </p:nvCxnSpPr>
        <p:spPr>
          <a:xfrm xmlns:a="http://schemas.openxmlformats.org/drawingml/2006/main">
            <a:off x="400050" y="4038600"/>
            <a:ext cx="51435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90E3D6-7010-480B-99C3-4657A7A0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71800"/>
            <a:ext cx="590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71510B-5F8D-4DBE-B1AD-F844BD8F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33700"/>
            <a:ext cx="447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Detect one signal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F60ECB-98F0-4C80-8804-AB09C152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90900"/>
            <a:ext cx="4476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Use configurable breakout-plus-volume rules.</a:t>
            </a:r>
          </a:p>
        </p:txBody>
      </p:sp>
      <p:cxnSp>
        <p:nvCxnSpPr>
          <p:cNvPr id="46" name="slice-rule-4"/>
          <p:cNvCxnSpPr/>
          <p:nvPr/>
        </p:nvCxnSpPr>
        <p:spPr>
          <a:xfrm xmlns:a="http://schemas.openxmlformats.org/drawingml/2006/main">
            <a:off x="6286500" y="4038600"/>
            <a:ext cx="51435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1D2148-F67A-4225-933A-EE45BE2D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590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CCD368-888C-4B1B-AE6F-3A52E9AA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86250"/>
            <a:ext cx="447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Persist the 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38DF38-55CF-41C4-9185-2D9F81DE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43450"/>
            <a:ext cx="4476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Explain exactly why the signal fired.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74CE25-96DB-47EB-9766-B18C5026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24350"/>
            <a:ext cx="590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1C1D08-CFB9-42F8-8D79-AD3E6EE7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286250"/>
            <a:ext cx="447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Replay identically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964F35-51BB-4468-9980-2C0099D7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743450"/>
            <a:ext cx="4476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Reproduce the result from recorded events.</a:t>
            </a:r>
          </a:p>
        </p:txBody>
      </p:sp>
      <p:sp>
        <p:nvSpPr>
          <p:cNvPr id="26" name="slice-exit">
            <a:extLst xmlns:a="http://schemas.openxmlformats.org/drawingml/2006/main">
              <a:ext uri="{FF2B5EF4-FFF2-40B4-BE49-F238E27FC236}">
                <a16:creationId xmlns:a16="http://schemas.microsoft.com/office/drawing/2014/main" id="{DB5126C6-8C72-48E3-98C3-B795CBBB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1029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DF2014-0038-4233-ADBF-79ED9994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38825"/>
            <a:ext cx="10648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EXIT CRITERION · Recorded input produces the same versioned signal every time.</a:t>
            </a:r>
          </a:p>
        </p:txBody>
      </p:sp>
    </p:spTree>
    <p:extLst>
      <p:ext uri="{BB962C8B-B14F-4D97-AF65-F5344CB8AC3E}">
        <p14:creationId xmlns:p14="http://schemas.microsoft.com/office/powerpoint/2010/main" val="7992720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D43638-69A8-4B4E-96AE-BC011AC3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3048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DAILY TRADER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33DA95-82F4-43D9-82DB-32806FE9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0287000" cy="2038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Build a system we can trust before one we can automate</a:t>
            </a:r>
          </a:p>
        </p:txBody>
      </p:sp>
      <p:cxnSp>
        <p:nvCxnSpPr>
          <p:cNvPr id="7" name="close-accent-rule"/>
          <p:cNvCxnSpPr/>
          <p:nvPr/>
        </p:nvCxnSpPr>
        <p:spPr>
          <a:xfrm xmlns:a="http://schemas.openxmlformats.org/drawingml/2006/main">
            <a:off x="400050" y="4171950"/>
            <a:ext cx="2095500" cy="286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3D8DFF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0AC515-7D80-4517-99D1-9D9285F7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9620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Next: scaffold the TypeScript foundation and deliver the replayable AAPL / SPY vertical slice.</a:t>
            </a:r>
          </a:p>
        </p:txBody>
      </p:sp>
    </p:spTree>
    <p:extLst>
      <p:ext uri="{BB962C8B-B14F-4D97-AF65-F5344CB8AC3E}">
        <p14:creationId xmlns:p14="http://schemas.microsoft.com/office/powerpoint/2010/main" val="19614607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2026-07-12T00:21:52.0660000Z</dcterms:created>
  <dcterms:modified xsi:type="dcterms:W3CDTF">2026-07-12T00:21:52.0660000Z</dcterms:modified>
</coreProperties>
</file>